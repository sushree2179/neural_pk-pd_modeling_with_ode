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Today I’m presenting Phase 2 and Phase 3 of the Neural PK–PD Modeling project. Phase 2 focuses on feature engineering and building a consistent multi-task dataset. Phase 3 focuses on the Neural ODE multi-task model architecture, training setup, baseline performance, and the concrete next steps to reach target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2→3 data handoff is stabilized around one processed artifact, and the Phase 3 pipeline is reproducible for controlled benchmark comparisons. Latest runs keep clearance near target while binding, hERG, and Caco-2 remain below thresholds. The immediate next step is targeted fine-tuning of hERG/Caco-2 while freezing the shared encoder.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focuses on what reviewers and stakeholders need: the Phase 2 → Phase 3 pipeline, baseline results, and a controlled improvement plan. Phase 1 EDA exists, but we only reference it as evidence for data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purpose is to learn a single representation that supports multiple endpoints. This helps scale modeling work and makes improvements transferable across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is complete and provides the model-ready dataset. Phase 3 has produced a baseline run, and our next iterations are focused on performance improvements before moving to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2 success means: training is possible without schema issues, task types are correct, and preprocessing is consistent and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image shows record counts loaded from each source and the combined total. It’s evidence that data access is correct and that the pipeline loads the expected datasets cleanly.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active configuration uses 258 dimensions total (2 physico + 256 fingerprint). This slide is retained as historical baseline feature design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plots visualize ADMET endpoints: hERG class balance and continuous distributions for Caco-2 and clearance. They justify using weighted loss for hERG and treating Caco-2 as regression.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the binding affinity distribution and the most represented targets. It validates that binding affinity has meaningful variance and should be learnable with sufficient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shows safety risk stratification and category distribution from ToxCast. Even if not used as a direct training target in the current 4-task baseline, it is crucial context for future safety constraints and risk-aware modeling.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Caco-2 objective handling was a key experimental variable. The current benchmark table uses AUROC for Caco-2 to remain comparable with recent variant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artifacts document the full Phase 2 pipeline. Reviewers can trace the feature engineering choices and verify preprocessing and task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 3 establishes the multi-task Neural ODE model and produces baseline metrics. The objective now is iterative improvement to hit target thresholds.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idea is shared representation learning with specialized heads. LayerNorm avoids BatchNorm running-statistics issues when mixing tasks.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Neural ODE supports modeling latent evolution. Even beyond time-series tasks, it can act as a flexible shared transformation consistent with PK/PD intuition.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setup is designed to produce stable, repeatable training runs so we can attribute performance changes to features/model choices rather than optimization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figure shows training/validation behavior and confirms convergence and early stopping. Key point: the pipeline trains reliably; current underperformance likely stems from representation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plot demonstrates PK curve generation from the Neural ODE block. It validates that ODE integration works correctly and produces plausible elimination-like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Clearance remains near threshold while binding, hERG, and Caco-2 remain below targets. Current strategy prioritizes split-leakage mitigation and re-benchmarking.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Current evidence supports targeted per-task optimization (especially hERG/Caco-2) while keeping the shared model 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Leakage control is prioritized before further model optimization so metric deltas remain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avoid changing many things at once. First optimize targeted heads; then run broader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Reviewer input here prevents optimizing the wrong objective. We want agreement on what constitutes success before moving to deployment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slide to align terminology. Main practical takeaway: increasing fingerprint bits reduces collisions and usually improves predictive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 — Phase 2 &amp; Phase 3 Update: Feature Engineering → Multi-Task Neural ODE (PK–PD + ADMET)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Repo: Sushree2179/Neural_PK-PD_Modeling_with_ODE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Presenter: Subrat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Snapshot date: Mar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 — Executive Summary (Stakeholder Version)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Phase 2→3 handoff complete via processed artifact (canonical feature source)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3 active: Neural ODE multi-task model benchmarked with controlled variants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Current benchmark: clearance near target; binding/hERG/Caco-2 below targets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Next action: task-specific fine-tuning for hERG/Caco-2 with frozen shared encoder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3 — What This Review Covers (and doesn’t)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Covers: Phase 2 feature engineering + dataset readiness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Covers: Phase 3 architecture + training setup + baseline results + improvement plan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Does not cover: deep Phase 1 EDA details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Does not cover: Phase 4 deployment implementation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4 —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Unified framework to predict multiple endpoints (binding + ADMET + safety + PK-relevant behavior)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Shared representation reduces duplicated per-endpoint modeling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Iterative loop: data → features → model → evaluate → 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5 — Project Context (Phases)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Phase 1: Data exploration &amp; validation ✅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2: Feature engineering &amp; task-ready dataset ✅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3: Neural ODE model development 🔬 (in progress)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Phase 4: Deployment (pending)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6 — Phase 2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Standardize inputs across sources into a single ML-ready format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Ensure correct task definitions (regression vs classification)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Normalize features and regression targets for stable multi-task training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Prepare clean inputs for Phase 3 Neural ODE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7 — Phase 2: Dataset Loading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/Users/subrat/Desktop/Thesis/Neural_PK-PD_Modeling_with_ODE/Slides/phase2_dataset_counts.png]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8 — Phase 2: Feature Vector (Baseline)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/Users/subrat/Desktop/Thesis/Neural_PK-PD_Modeling_with_ODE/Slides/feature_vector_68.png]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9 — Phase 2: TDC ADMET Distributions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/Users/subrat/Desktop/Thesis/Neural_PK-PD_Modeling_with_ODE/Slides/phase2_tdc_admet.png]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10 — Phase 2: ChEMBL Binding Affinity + Targets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/Users/subrat/Desktop/Thesis/Neural_PK-PD_Modeling_with_ODE/Slides/phase2_chembl_binding_targets.png]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11 — Phase 2: ToxCast Safety Screening (Risk + Categories)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/Users/subrat/Desktop/Thesis/Neural_PK-PD_Modeling_with_ODE/Slides/phase2_toxcast_risk_categories.png]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12 — Phase 2 Key Decision: Caco-2 as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Historical correction: Caco-2 is continuous permeability (not binary)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Current benchmark track evaluates Caco-2 as classification (AUROC) for comparability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Objective alignment now tracked explicitly in experiment notes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13 — Phase 2 Deliverables (Artifacts)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Notebook: Coding/phase1_2_data_exploration.ipynb (data inspection + feature engineering)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Processed artifact: Coding/data/processed/phase2_multitask_features_with_fingerprints.csv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Docs: Coding/PROJECT_SUMMARY.md (main), Coding/EXECUTIVE_SUMMARY.md, Coding/TROUBLESHOOTING_GUIDE.md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14 — Phase 3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Multi-task neural architecture: shared encoder + task-specific heads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Neural ODE integration using torchdiffeq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Stable multi-task training + baseline results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Targets: Binding R²&gt;0.6, hERG AUROC&gt;0.8, Caco-2 AUROC&gt;0.75, Clearance RMSE&lt;1.0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15 — Phase 3 Architecture (High Level)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SharedEncoder (LayerNorm for interleaved multi-task stability)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Task heads: regression heads + classification head (hERG)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Neural ODE component (PKODEFunc) for PK-curve generation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Total trainable parameters: 44,710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16 — Why Neural ODE?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Continuous-depth transformation in latent space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Conceptual alignment with PK/PD dynamics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Provides structured nonlinear mapping shared across endpoints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17 — Training Setup (Stability-Focused)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Interleaved sampling to avoid large-task dominance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Early stopping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Gradient clipping = 1.0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LR scheduling: ReduceLROnPlateau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Loss variants benchmarked: BCE-with-logits / focal + threshold tuning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18 — Phase 3: Training History (Baseline Run)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/Users/subrat/Desktop/Thesis/Neural_PK-PD_Modeling_with_ODE/Slides/phase3_training_history.png]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19 — Phase 3: Neural ODE PK Curve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0000"/>
                </a:solidFill>
              </a:defRPr>
            </a:pPr>
            <a:r>
              <a:t>[Missing image: /Users/subrat/Desktop/Thesis/Neural_PK-PD_Modeling_with_ODE/Slides/phase3_pk_curve_demo.png]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20 — Latest Results vs Targets (Mar 8,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Binding R²: 0.0019 (target &gt; 0.60)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hERG AUROC: 0.4836 (target &gt; 0.80)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Caco-2 AUROC: 0.4719 (target &gt; 0.75) → not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Clearance RMSE: 0.9766 (target &lt; 1.00) → met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Locked thresholds: hERG=0.49, Caco-2=0.50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21 — Interpretation: Likely Bottleneck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Training stable, but 3/4 tasks underperform → task-specific adaptation still limiting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Latest feature handoff/integration is stable and reproducible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Next step should fine-tune target heads before major architecture changes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22 — Primary Next Action: Split-Leakage Mitigation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Fix split strategy for leakage-prone tasks (starting with binding)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Re-run quality gate and confirm zero overlap leakage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Re-benchmark with locked thresholds and compare against Mar 8 snapshot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23 — Secondary Next Actions (After Focused Fine-Tuning)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Tune hidden_dim / latent_dim / learning rate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Adjust per-task loss weights and sampling ratios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For hERG/Caco-2: consider PR-AUC + calibration and threshold analysis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24 — What We Need from Reviewers /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Confirm metric priorities per endpoint (AUROC vs PR-AUC; R² vs RMSE)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Agree on Phase 3 exit criteria for Phase 4 readiness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Feedback: Neural ODE value vs simpler baselines (required comparisons?)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141414"/>
                </a:solidFill>
              </a:rPr>
              <a:t>Slide 25 — Appendix: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1E1E1E"/>
                </a:solidFill>
              </a:defRPr>
            </a:pPr>
            <a:r>
              <a:t>Neural ODE: dh/dt = fθ(h,t); ODE solver integrates dynamics (continuous-depth)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AUROC: ranking quality across thresholds (0.5 random → 1.0 perfect)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R²: variance explained (0 mean predictor; &lt;0 worse than mean)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RMSE: error magnitude (lower is better; penalizes large errors)</a:t>
            </a:r>
          </a:p>
          <a:p>
            <a:pPr>
              <a:defRPr sz="2400">
                <a:solidFill>
                  <a:srgbClr val="1E1E1E"/>
                </a:solidFill>
              </a:defRPr>
            </a:pPr>
            <a:r>
              <a:t>Morgan/ECFP4: circular fingerprint (radius=2); more bits reduces collisions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