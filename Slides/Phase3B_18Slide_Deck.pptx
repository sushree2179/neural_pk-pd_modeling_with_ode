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Phase 3B: Multi-Task Neural PK-PD with Neural 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deep dive | 18-slide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2 -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 framing</a:t>
            </a:r>
          </a:p>
          <a:p>
            <a:pPr>
              <a:defRPr sz="2000"/>
            </a:pPr>
            <a:r>
              <a:t>Theoretical basis</a:t>
            </a:r>
          </a:p>
          <a:p>
            <a:pPr>
              <a:defRPr sz="2000"/>
            </a:pPr>
            <a:r>
              <a:t>Data and feature design</a:t>
            </a:r>
          </a:p>
          <a:p>
            <a:pPr>
              <a:defRPr sz="2000"/>
            </a:pPr>
            <a:r>
              <a:t>Architecture and training protocol</a:t>
            </a:r>
          </a:p>
          <a:p>
            <a:pPr>
              <a:defRPr sz="2000"/>
            </a:pPr>
            <a:r>
              <a:t>Results, risks, and next experiments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3 - Problem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Need one model across efficacy and ADMET endpoints.</a:t>
            </a:r>
          </a:p>
          <a:p>
            <a:pPr>
              <a:defRPr sz="2000"/>
            </a:pPr>
            <a:r>
              <a:t>Single-task setups miss transferable molecular signal.</a:t>
            </a:r>
          </a:p>
          <a:p>
            <a:pPr>
              <a:defRPr sz="2000"/>
            </a:pPr>
            <a:r>
              <a:t>PK-PD workflows need mechanistic trajectory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4 - Why Multi-Task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Shared encoder induces representation transfer.</a:t>
            </a:r>
          </a:p>
          <a:p>
            <a:pPr>
              <a:defRPr sz="2000"/>
            </a:pPr>
            <a:r>
              <a:t>Hard parameter sharing reduces overfitting on small tasks.</a:t>
            </a:r>
          </a:p>
          <a:p>
            <a:pPr>
              <a:defRPr sz="2000"/>
            </a:pPr>
            <a:r>
              <a:t>Task heads preserve specialization for task-specific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5 - Why Neural 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Continuous-time dynamics match PK concentration processes.</a:t>
            </a:r>
          </a:p>
          <a:p>
            <a:pPr>
              <a:defRPr sz="2000"/>
            </a:pPr>
            <a:r>
              <a:t>Predictions available on arbitrary time grids.</a:t>
            </a:r>
          </a:p>
          <a:p>
            <a:pPr>
              <a:defRPr sz="2000"/>
            </a:pPr>
            <a:r>
              <a:t>Supports mechanistic prior via first-order elimination 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6 - Data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Phase 3A artifacts and bridge outputs are loaded.</a:t>
            </a:r>
          </a:p>
          <a:p>
            <a:pPr>
              <a:defRPr sz="2000"/>
            </a:pPr>
            <a:r>
              <a:t>Task arrays converted into train/val/test DataLoaders.</a:t>
            </a:r>
          </a:p>
          <a:p>
            <a:pPr>
              <a:defRPr sz="2000"/>
            </a:pPr>
            <a:r>
              <a:t>Task-aware scaling preserves regression/classification semantics.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7 - Feature Space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Input = descriptors + fingerprints + docking_quality.</a:t>
            </a:r>
          </a:p>
          <a:p>
            <a:pPr>
              <a:defRPr sz="2000"/>
            </a:pPr>
            <a:r>
              <a:t>Unified input dimension maintained across all tasks.</a:t>
            </a:r>
          </a:p>
          <a:p>
            <a:pPr>
              <a:defRPr sz="2000"/>
            </a:pPr>
            <a:r>
              <a:t>Bridge feature injects structure-level information into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8 - Structure to Binding to PK 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RapidDock geometry quality aggregated at target level.</a:t>
            </a:r>
          </a:p>
          <a:p>
            <a:pPr>
              <a:defRPr sz="2000"/>
            </a:pPr>
            <a:r>
              <a:t>Binding task receives target-informed docking_quality values.</a:t>
            </a:r>
          </a:p>
          <a:p>
            <a:pPr>
              <a:defRPr sz="2000"/>
            </a:pPr>
            <a:r>
              <a:t>Other ADMET tasks are zero-padded for schema consistency.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9 - Shared Encoder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Linear(input_dim, hidden_dim) + LayerNorm + ReLU + Dropout.</a:t>
            </a:r>
          </a:p>
          <a:p>
            <a:pPr>
              <a:defRPr sz="2000"/>
            </a:pPr>
            <a:r>
              <a:t>Second hidden block mirrors first for deeper representation.</a:t>
            </a:r>
          </a:p>
          <a:p>
            <a:pPr>
              <a:defRPr sz="2000"/>
            </a:pPr>
            <a:r>
              <a:t>Final projection maps into latent_dim with ReLU.</a:t>
            </a:r>
          </a:p>
          <a:p>
            <a:pPr>
              <a:defRPr sz="2000"/>
            </a:pPr>
            <a:r>
              <a:t>LayerNorm stabilizes interleaved multi-task updates.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10 - Task Heads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DeepRegressionHead for binding.</a:t>
            </a:r>
          </a:p>
          <a:p>
            <a:pPr>
              <a:defRPr sz="2000"/>
            </a:pPr>
            <a:r>
              <a:t>RegressionHead for clearance.</a:t>
            </a:r>
          </a:p>
          <a:p>
            <a:pPr>
              <a:defRPr sz="2000"/>
            </a:pPr>
            <a:r>
              <a:t>ClassificationHead for hERG and Caco-2 with logits output.</a:t>
            </a:r>
          </a:p>
          <a:p>
            <a:pPr>
              <a:defRPr sz="2000"/>
            </a:pPr>
            <a:r>
              <a:t>Design balances shared learning with endpoint-specific capacity.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11 - PKODEFunc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Latent state maps to PK parameters [CL, V].</a:t>
            </a:r>
          </a:p>
          <a:p>
            <a:pPr>
              <a:defRPr sz="2000"/>
            </a:pPr>
            <a:r>
              <a:t>Positivity enforced by exponentiation.</a:t>
            </a:r>
          </a:p>
          <a:p>
            <a:pPr>
              <a:defRPr sz="2000"/>
            </a:pPr>
            <a:r>
              <a:t>k = CL / V and dynamics dC/dt = -kC.</a:t>
            </a:r>
          </a:p>
          <a:p>
            <a:pPr>
              <a:defRPr sz="2000"/>
            </a:pPr>
            <a:r>
              <a:t>ODE integration returns concentration-time trajectories.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12 - Training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Task-wise train/val/test splits.</a:t>
            </a:r>
          </a:p>
          <a:p>
            <a:pPr>
              <a:defRPr sz="2000"/>
            </a:pPr>
            <a:r>
              <a:t>Interleaved updates across tasks each epoch.</a:t>
            </a:r>
          </a:p>
          <a:p>
            <a:pPr>
              <a:defRPr sz="2000"/>
            </a:pPr>
            <a:r>
              <a:t>Minimum-batch scheduling prevents over-cycling small tasks.</a:t>
            </a:r>
          </a:p>
          <a:p>
            <a:pPr>
              <a:defRPr sz="2000"/>
            </a:pPr>
            <a:r>
              <a:t>Gradient clipping applied per update.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13 - Loss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Weighted multi-task objective.</a:t>
            </a:r>
          </a:p>
          <a:p>
            <a:pPr>
              <a:defRPr sz="2000"/>
            </a:pPr>
            <a:r>
              <a:t>MSE for regression tasks.</a:t>
            </a:r>
          </a:p>
          <a:p>
            <a:pPr>
              <a:defRPr sz="2000"/>
            </a:pPr>
            <a:r>
              <a:t>Weighted BCE-with-logits or focal logits for classification.</a:t>
            </a:r>
          </a:p>
          <a:p>
            <a:pPr>
              <a:defRPr sz="2000"/>
            </a:pPr>
            <a:r>
              <a:t>Positive-class weighting addresses class imbalance.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14 - Optimization and Early Stopping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Optimizer: Adam with weight decay.</a:t>
            </a:r>
          </a:p>
          <a:p>
            <a:pPr>
              <a:defRPr sz="2000"/>
            </a:pPr>
            <a:r>
              <a:t>Scheduler: ReduceLROnPlateau on validation objective.</a:t>
            </a:r>
          </a:p>
          <a:p>
            <a:pPr>
              <a:defRPr sz="2000"/>
            </a:pPr>
            <a:r>
              <a:t>Early stopping by patience on aggregated validation loss.</a:t>
            </a:r>
          </a:p>
          <a:p>
            <a:pPr>
              <a:defRPr sz="2000"/>
            </a:pPr>
            <a:r>
              <a:t>Best checkpoint persisted for handoff and reproducibility.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15 - Evaluation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Regression metrics: RMSE, MAE, R2.</a:t>
            </a:r>
          </a:p>
          <a:p>
            <a:pPr>
              <a:defRPr sz="2000"/>
            </a:pPr>
            <a:r>
              <a:t>Classification metrics: AUROC, accuracy, F1.</a:t>
            </a:r>
          </a:p>
          <a:p>
            <a:pPr>
              <a:defRPr sz="2000"/>
            </a:pPr>
            <a:r>
              <a:t>Validation threshold selected via Youden criterion.</a:t>
            </a:r>
          </a:p>
          <a:p>
            <a:pPr>
              <a:defRPr sz="2000"/>
            </a:pPr>
            <a:r>
              <a:t>Task targets tracked consistently for go/no-go decisions.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Slide 16 - Visual: Training Dynamics</a:t>
            </a:r>
          </a:p>
        </p:txBody>
      </p:sp>
      <p:pic>
        <p:nvPicPr>
          <p:cNvPr id="3" name="Picture 2" descr="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8046720" cy="28225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9680" y="1097280"/>
            <a:ext cx="2743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Loss curves show convergence and generalization.</a:t>
            </a:r>
          </a:p>
          <a:p>
            <a:pPr>
              <a:defRPr sz="1800"/>
            </a:pPr>
            <a:r>
              <a:t>Task metric trends expose plateau regions.</a:t>
            </a:r>
          </a:p>
          <a:p>
            <a:pPr>
              <a:defRPr sz="1800"/>
            </a:pPr>
            <a:r>
              <a:t>Signals where task-specific tuning is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Slide 17 - Visual: Neural ODE PK Curves</a:t>
            </a:r>
          </a:p>
        </p:txBody>
      </p:sp>
      <p:pic>
        <p:nvPicPr>
          <p:cNvPr id="3" name="Picture 2" descr="pk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8046720" cy="47770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9680" y="1097280"/>
            <a:ext cx="2743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Continuous-time ODE integration output.</a:t>
            </a:r>
          </a:p>
          <a:p>
            <a:pPr>
              <a:defRPr sz="1800"/>
            </a:pPr>
            <a:r>
              <a:t>Monotonic decay reflects elimination dynamics.</a:t>
            </a:r>
          </a:p>
          <a:p>
            <a:pPr>
              <a:defRPr sz="1800"/>
            </a:pPr>
            <a:r>
              <a:t>Variation reflects inferred CL and V differences.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18 - Summary and Next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Phase 3B provides full reproducible baseline stack.</a:t>
            </a:r>
          </a:p>
          <a:p>
            <a:pPr>
              <a:defRPr sz="2000"/>
            </a:pPr>
            <a:r>
              <a:t>Risks: task interference, imbalance sensitivity, threshold dependence.</a:t>
            </a:r>
          </a:p>
          <a:p>
            <a:pPr>
              <a:defRPr sz="2000"/>
            </a:pPr>
            <a:r>
              <a:t>Phase 3C: task-focused fine-tuning, loss-weight sweeps, calibration.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