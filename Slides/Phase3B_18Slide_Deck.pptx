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000"/>
            </a:pPr>
            <a:r>
              <a:t>Phase 3B: Multi-Task Neural PK-PD with Neural ODE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Technical deep dive | 18-slide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Problem framing and motivation for a unified model.</a:t>
            </a:r>
          </a:p>
          <a:p>
            <a:pPr>
              <a:defRPr sz="1800"/>
            </a:pPr>
            <a:r>
              <a:t>Theory behind multi-task learning and Neural ODE dynamics.</a:t>
            </a:r>
          </a:p>
          <a:p>
            <a:pPr>
              <a:defRPr sz="1800"/>
            </a:pPr>
            <a:r>
              <a:t>Data construction and feature schema across tasks.</a:t>
            </a:r>
          </a:p>
          <a:p>
            <a:pPr>
              <a:defRPr sz="1800"/>
            </a:pPr>
            <a:r>
              <a:t>Detailed architecture, loss design, and training protocol.</a:t>
            </a:r>
          </a:p>
          <a:p>
            <a:pPr>
              <a:defRPr sz="1800"/>
            </a:pPr>
            <a:r>
              <a:t>Results interpretation, risks, and next experimental plan.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Problem 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Drug programs require simultaneous modeling of efficacy and ADMET endpoints.</a:t>
            </a:r>
          </a:p>
          <a:p>
            <a:pPr>
              <a:defRPr sz="1800"/>
            </a:pPr>
            <a:r>
              <a:t>Single-task pipelines underuse transferable molecular information.</a:t>
            </a:r>
          </a:p>
          <a:p>
            <a:pPr>
              <a:defRPr sz="1800"/>
            </a:pPr>
            <a:r>
              <a:t>PK-PD decisions require interpretable trajectory behavior, not only endpoint scores.</a:t>
            </a:r>
          </a:p>
          <a:p>
            <a:pPr>
              <a:defRPr sz="1800"/>
            </a:pPr>
            <a:r>
              <a:t>Goal: combine predictive power and mechanistic consistency in one stack.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Why Multi-Task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 shared encoder transfers supervision across related endpoints.</a:t>
            </a:r>
          </a:p>
          <a:p>
            <a:pPr>
              <a:defRPr sz="1800"/>
            </a:pPr>
            <a:r>
              <a:t>Hard sharing regularizes low-sample tasks and can improve robustness.</a:t>
            </a:r>
          </a:p>
          <a:p>
            <a:pPr>
              <a:defRPr sz="1800"/>
            </a:pPr>
            <a:r>
              <a:t>Task-specific heads preserve endpoint-specific decision boundaries.</a:t>
            </a:r>
          </a:p>
          <a:p>
            <a:pPr>
              <a:defRPr sz="1800"/>
            </a:pPr>
            <a:r>
              <a:t>This architecture balances generalization and specialization.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Why Neural 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PK concentration behavior is naturally continuous-time.</a:t>
            </a:r>
          </a:p>
          <a:p>
            <a:pPr>
              <a:defRPr sz="1800"/>
            </a:pPr>
            <a:r>
              <a:t>Neural ODE permits trajectory queries at any time grid.</a:t>
            </a:r>
          </a:p>
          <a:p>
            <a:pPr>
              <a:defRPr sz="1800"/>
            </a:pPr>
            <a:r>
              <a:t>Dynamics can embed mechanistic priors such as first-order elimination.</a:t>
            </a:r>
          </a:p>
          <a:p>
            <a:pPr>
              <a:defRPr sz="1800"/>
            </a:pPr>
            <a:r>
              <a:t>This improves plausibility versus purely discrete latent updates.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Data Pipeline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Phase 3A processed artifacts and bridge outputs are loaded reproducibly.</a:t>
            </a:r>
          </a:p>
          <a:p>
            <a:pPr>
              <a:defRPr sz="1800"/>
            </a:pPr>
            <a:r>
              <a:t>Task arrays are split into train, validation, and test partitions.</a:t>
            </a:r>
          </a:p>
          <a:p>
            <a:pPr>
              <a:defRPr sz="1800"/>
            </a:pPr>
            <a:r>
              <a:t>DataLoaders are rebuilt per task with consistent batch semantics.</a:t>
            </a:r>
          </a:p>
          <a:p>
            <a:pPr>
              <a:defRPr sz="1800"/>
            </a:pPr>
            <a:r>
              <a:t>Scaling preserves differences between regression and classification targets.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Feature Space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Input vector combines descriptors, fingerprints, and docking_quality.</a:t>
            </a:r>
          </a:p>
          <a:p>
            <a:pPr>
              <a:defRPr sz="1800"/>
            </a:pPr>
            <a:r>
              <a:t>One unified input dimension is maintained for all four tasks.</a:t>
            </a:r>
          </a:p>
          <a:p>
            <a:pPr>
              <a:defRPr sz="1800"/>
            </a:pPr>
            <a:r>
              <a:t>Structure-derived docking signal is injected into downstream learning.</a:t>
            </a:r>
          </a:p>
          <a:p>
            <a:pPr>
              <a:defRPr sz="1800"/>
            </a:pPr>
            <a:r>
              <a:t>Consistent schema enables strict encoder sharing across tasks.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Structure-to-Binding-to-PK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RapidDock geometry quality is aggregated at protein-target level.</a:t>
            </a:r>
          </a:p>
          <a:p>
            <a:pPr>
              <a:defRPr sz="1800"/>
            </a:pPr>
            <a:r>
              <a:t>Binding samples receive target-informed docking_quality augmentation.</a:t>
            </a:r>
          </a:p>
          <a:p>
            <a:pPr>
              <a:defRPr sz="1800"/>
            </a:pPr>
            <a:r>
              <a:t>Other ADMET tasks are zero-padded to preserve shared schema.</a:t>
            </a:r>
          </a:p>
          <a:p>
            <a:pPr>
              <a:defRPr sz="1800"/>
            </a:pPr>
            <a:r>
              <a:t>Bridge design injects structural signal without task-format drift.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Shared Encoder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Block 1: Linear(input_dim, hidden_dim) + LayerNorm + ReLU + Dropout.</a:t>
            </a:r>
          </a:p>
          <a:p>
            <a:pPr>
              <a:defRPr sz="1800"/>
            </a:pPr>
            <a:r>
              <a:t>Block 2 repeats hidden transformation for richer nonlinear features.</a:t>
            </a:r>
          </a:p>
          <a:p>
            <a:pPr>
              <a:defRPr sz="1800"/>
            </a:pPr>
            <a:r>
              <a:t>Projection layer maps hidden representation to latent_dim.</a:t>
            </a:r>
          </a:p>
          <a:p>
            <a:pPr>
              <a:defRPr sz="1800"/>
            </a:pPr>
            <a:r>
              <a:t>LayerNorm is preferred over BatchNorm for interleaved task batches.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Model Hyperparameters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Architecture: input_dim, hidden_dim, latent_dim, dropout.</a:t>
            </a:r>
          </a:p>
          <a:p>
            <a:pPr>
              <a:defRPr sz="1800"/>
            </a:pPr>
            <a:r>
              <a:t>Head capacity: reg_head_hidden and reg_head_dropout for binding.</a:t>
            </a:r>
          </a:p>
          <a:p>
            <a:pPr>
              <a:defRPr sz="1800"/>
            </a:pPr>
            <a:r>
              <a:t>Optimization: learning_rate, weight_decay, batch_size, epochs, patience, grad_clip.</a:t>
            </a:r>
          </a:p>
          <a:p>
            <a:pPr>
              <a:defRPr sz="1800"/>
            </a:pPr>
            <a:r>
              <a:t>Loss: task weights, focal_gamma, and class positive weights.</a:t>
            </a:r>
          </a:p>
          <a:p>
            <a:pPr>
              <a:defRPr sz="1800"/>
            </a:pPr>
            <a:r>
              <a:t>Data split: test_size, val_size, and fixed random seed.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Why This Architecture Was Chosen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Shared encoder + task heads balances transfer and endpoint specialization.</a:t>
            </a:r>
          </a:p>
          <a:p>
            <a:pPr>
              <a:defRPr sz="1800"/>
            </a:pPr>
            <a:r>
              <a:t>LayerNorm was selected for stable interleaved multi-task training.</a:t>
            </a:r>
          </a:p>
          <a:p>
            <a:pPr>
              <a:defRPr sz="1800"/>
            </a:pPr>
            <a:r>
              <a:t>A deeper binding head addresses harder regression complexity.</a:t>
            </a:r>
          </a:p>
          <a:p>
            <a:pPr>
              <a:defRPr sz="1800"/>
            </a:pPr>
            <a:r>
              <a:t>Logits-based heads support stable optimization and calibration.</a:t>
            </a:r>
          </a:p>
          <a:p>
            <a:pPr>
              <a:defRPr sz="1800"/>
            </a:pPr>
            <a:r>
              <a:t>Neural ODE adds mechanistic PK trajectories, not only scalar predictions.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Task Heads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DeepRegressionHead is used for the harder binding regression task.</a:t>
            </a:r>
          </a:p>
          <a:p>
            <a:pPr>
              <a:defRPr sz="1800"/>
            </a:pPr>
            <a:r>
              <a:t>RegressionHead is used for clearance prediction.</a:t>
            </a:r>
          </a:p>
          <a:p>
            <a:pPr>
              <a:defRPr sz="1800"/>
            </a:pPr>
            <a:r>
              <a:t>ClassificationHead produces logits for hERG and Caco-2.</a:t>
            </a:r>
          </a:p>
          <a:p>
            <a:pPr>
              <a:defRPr sz="1800"/>
            </a:pPr>
            <a:r>
              <a:t>Head-level asymmetry matches endpoint complexity and data profile.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PKODEFunc Internals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Latent representation predicts PK parameters CL and V.</a:t>
            </a:r>
          </a:p>
          <a:p>
            <a:pPr>
              <a:defRPr sz="1800"/>
            </a:pPr>
            <a:r>
              <a:t>Exponentiation enforces positive-valued pharmacokinetic parameters.</a:t>
            </a:r>
          </a:p>
          <a:p>
            <a:pPr>
              <a:defRPr sz="1800"/>
            </a:pPr>
            <a:r>
              <a:t>Elimination rate is defined as k = CL / V.</a:t>
            </a:r>
          </a:p>
          <a:p>
            <a:pPr>
              <a:defRPr sz="1800"/>
            </a:pPr>
            <a:r>
              <a:t>Dynamics follow dC/dt = -kC and are integrated over 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Training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Train/validation/test splits are prepared task-wise.</a:t>
            </a:r>
          </a:p>
          <a:p>
            <a:pPr>
              <a:defRPr sz="1800"/>
            </a:pPr>
            <a:r>
              <a:t>Training interleaves task updates inside each epoch.</a:t>
            </a:r>
          </a:p>
          <a:p>
            <a:pPr>
              <a:defRPr sz="1800"/>
            </a:pPr>
            <a:r>
              <a:t>Minimum-batch scheduling avoids repeated oversampling of small tasks.</a:t>
            </a:r>
          </a:p>
          <a:p>
            <a:pPr>
              <a:defRPr sz="1800"/>
            </a:pPr>
            <a:r>
              <a:t>Gradient clipping is applied each optimization step for stability.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Loss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Objective is a weighted sum across all tasks.</a:t>
            </a:r>
          </a:p>
          <a:p>
            <a:pPr>
              <a:defRPr sz="1800"/>
            </a:pPr>
            <a:r>
              <a:t>MSE is used for binding and clearance regression.</a:t>
            </a:r>
          </a:p>
          <a:p>
            <a:pPr>
              <a:defRPr sz="1800"/>
            </a:pPr>
            <a:r>
              <a:t>Weighted BCE-with-logits or focal logits is used for classification.</a:t>
            </a:r>
          </a:p>
          <a:p>
            <a:pPr>
              <a:defRPr sz="1800"/>
            </a:pPr>
            <a:r>
              <a:t>Positive-class weighting mitigates imbalance effects.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Optimization and Early Stopping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Adam optimizer is used with weight decay regularization.</a:t>
            </a:r>
          </a:p>
          <a:p>
            <a:pPr>
              <a:defRPr sz="1800"/>
            </a:pPr>
            <a:r>
              <a:t>ReduceLROnPlateau adapts learning rate from validation behavior.</a:t>
            </a:r>
          </a:p>
          <a:p>
            <a:pPr>
              <a:defRPr sz="1800"/>
            </a:pPr>
            <a:r>
              <a:t>Early stopping monitors aggregated validation loss with patience.</a:t>
            </a:r>
          </a:p>
          <a:p>
            <a:pPr>
              <a:defRPr sz="1800"/>
            </a:pPr>
            <a:r>
              <a:t>Best checkpoint is persisted for reproducible handoff.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Evaluation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Regression quality is tracked with RMSE, MAE, and R2.</a:t>
            </a:r>
          </a:p>
          <a:p>
            <a:pPr>
              <a:defRPr sz="1800"/>
            </a:pPr>
            <a:r>
              <a:t>Classification quality is tracked with AUROC, accuracy, and F1.</a:t>
            </a:r>
          </a:p>
          <a:p>
            <a:pPr>
              <a:defRPr sz="1800"/>
            </a:pPr>
            <a:r>
              <a:t>Decision thresholds are selected on validation using Youden criterion.</a:t>
            </a:r>
          </a:p>
          <a:p>
            <a:pPr>
              <a:defRPr sz="1800"/>
            </a:pPr>
            <a:r>
              <a:t>Task-level targets support consistent go/no-go monitoring.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Architecture Blocks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914400"/>
          <a:ext cx="1106424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899160"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Computation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Purpose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SharedEncoder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2x Linear+LayerNorm+ReLU+Dropout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latent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Shared molecular representation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DeepRegressionHead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latent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 hidden layers + dropout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binding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Harder regression task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RegressionHead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latent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Compact 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clearance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Stable regression mapping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ClassificationHead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latent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MLP logits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hERG/Caco-2 logits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Binary endpoints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PKODEFunc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latent + C(t)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predict CL,V -&gt; k; dC/dt=-kC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PK curve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Mechanistic PK dynamics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Loss and Weighting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914400"/>
          <a:ext cx="1106424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899160"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Class Handling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Why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w_binding=1.8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Primary efficacy regression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hERG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BCE/Focal logits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w_herg=1.0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pos_weight + focal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Safety class imbalance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Caco-2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BCE/Focal logits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w_caco2=2.0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pos_weight + focal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Permeability emphasis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Clearance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w_clearance=1.0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PK endpoint accuracy</a:t>
                      </a:r>
                    </a:p>
                  </a:txBody>
                  <a:tcPr/>
                </a:tc>
              </a:tr>
              <a:tr h="8991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Physics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Penalty 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w_physics=0.1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Monotonic/non-negative PK curves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Hyperparameter Table Snapshot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914400"/>
          <a:ext cx="1106424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90450"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Hyperparameter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300"/>
                      </a:pPr>
                      <a:r>
                        <a:t>Expected Impact</a:t>
                      </a:r>
                    </a:p>
                  </a:txBody>
                  <a:tcPr/>
                </a:tc>
              </a:tr>
              <a:tr h="4904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input_dim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Input feature 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Capacity and memory footprint</a:t>
                      </a:r>
                    </a:p>
                  </a:txBody>
                  <a:tcPr/>
                </a:tc>
              </a:tr>
              <a:tr h="4904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hidden_dim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Shared encoder 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Representation power vs overfit risk</a:t>
                      </a:r>
                    </a:p>
                  </a:txBody>
                  <a:tcPr/>
                </a:tc>
              </a:tr>
              <a:tr h="4904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latent_dim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Latent bottleneck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Compression vs transfer</a:t>
                      </a:r>
                    </a:p>
                  </a:txBody>
                  <a:tcPr/>
                </a:tc>
              </a:tr>
              <a:tr h="4904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dropout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Encoder regularization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Generalization stability</a:t>
                      </a:r>
                    </a:p>
                  </a:txBody>
                  <a:tcPr/>
                </a:tc>
              </a:tr>
              <a:tr h="4904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batch_size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Batch granularity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Gradient stability / throughput</a:t>
                      </a:r>
                    </a:p>
                  </a:txBody>
                  <a:tcPr/>
                </a:tc>
              </a:tr>
              <a:tr h="4904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learning_rate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Optimizer step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Convergence speed and stability</a:t>
                      </a:r>
                    </a:p>
                  </a:txBody>
                  <a:tcPr/>
                </a:tc>
              </a:tr>
              <a:tr h="4904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weight_decay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L2 regularization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Prevents parameter blow-up</a:t>
                      </a:r>
                    </a:p>
                  </a:txBody>
                  <a:tcPr/>
                </a:tc>
              </a:tr>
              <a:tr h="4904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patience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Early stopping tolerance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Avoids premature stopping</a:t>
                      </a:r>
                    </a:p>
                  </a:txBody>
                  <a:tcPr/>
                </a:tc>
              </a:tr>
              <a:tr h="4904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grad_clip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Gradient clipping 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Prevents exploding gradients</a:t>
                      </a:r>
                    </a:p>
                  </a:txBody>
                  <a:tcPr/>
                </a:tc>
              </a:tr>
              <a:tr h="4904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focal_gamma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Focal loss 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Emphasizes hard samples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Training Dynamics</a:t>
            </a:r>
          </a:p>
        </p:txBody>
      </p:sp>
      <p:pic>
        <p:nvPicPr>
          <p:cNvPr id="3" name="Picture 2" descr="training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14400"/>
            <a:ext cx="8046720" cy="28225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869680" y="1097280"/>
            <a:ext cx="2743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Loss curves characterize convergence and potential overfitting gap.</a:t>
            </a:r>
          </a:p>
          <a:p>
            <a:pPr>
              <a:defRPr sz="1800"/>
            </a:pPr>
            <a:r>
              <a:t>Task metric trends identify faster and slower learning tasks.</a:t>
            </a:r>
          </a:p>
          <a:p>
            <a:pPr>
              <a:defRPr sz="1800"/>
            </a:pPr>
            <a:r>
              <a:t>Plateau points indicate where task-specific fine-tuning is needed.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Neural ODE PK Curves</a:t>
            </a:r>
          </a:p>
        </p:txBody>
      </p:sp>
      <p:pic>
        <p:nvPicPr>
          <p:cNvPr id="3" name="Picture 2" descr="pk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14400"/>
            <a:ext cx="8046720" cy="47770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869680" y="1097280"/>
            <a:ext cx="2743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Curves are generated from continuous-time ODE integration.</a:t>
            </a:r>
          </a:p>
          <a:p>
            <a:pPr>
              <a:defRPr sz="1800"/>
            </a:pPr>
            <a:r>
              <a:t>Monotonic decay aligns with first-order elimination assumptions.</a:t>
            </a:r>
          </a:p>
          <a:p>
            <a:pPr>
              <a:defRPr sz="1800"/>
            </a:pPr>
            <a:r>
              <a:t>Inter-compound variation reflects inferred CL and V differences.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Summary and Next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Phase 3B delivers a complete and reproducible baseline pipeline.</a:t>
            </a:r>
          </a:p>
          <a:p>
            <a:pPr>
              <a:defRPr sz="1800"/>
            </a:pPr>
            <a:r>
              <a:t>Main technical risks are task interference, imbalance sensitivity, and threshold dependence.</a:t>
            </a:r>
          </a:p>
          <a:p>
            <a:pPr>
              <a:defRPr sz="1800"/>
            </a:pPr>
            <a:r>
              <a:t>Phase 3C will focus on targeted fine-tuning, loss-weight sweeps, and calibration.</a:t>
            </a:r>
          </a:p>
          <a:p>
            <a:pPr>
              <a:defRPr sz="1800"/>
            </a:pPr>
            <a:r>
              <a:t>The current system is ready for controlled optimization rather than redesign.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