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I'm presenting Phase 2 and Phase 3 of the Neural PK–PD Modeling project. Phase 2 focuses on feature engineering and building a consistent multi-task dataset. Phase 3 focuses on the Neural ODE multi-task model architecture, training setup, baseline performance, and the concrete next steps to reach target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2→3 data handoff is stabilized around one processed artifact, and the Phase 3 pipeline is now reproducible for controlled benchmark comparisons. Latest runs keep clearance near target while binding, hERG, and Caco-2 remain below thresholds. The immediate next step is targeted fine-tuning of hERG/Caco-2 while freezing the shared encoder to improve classification performance without destabilizing the full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focuses on what reviewers and stakeholders need: the Phase 2 → Phase 3 pipeline, baseline results, and a controlled improvement plan. Phase 1 EDA exists as evidence for data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purpose is to learn a single representation that supports multiple endpoints. This helps scale modeling work and makes improvements transferable across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is complete and provides the model-ready dataset. Phase 3 has produced a baseline run, and our next iterations are focused on performance improvements before moving to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success means: training is possible without schema issues, task types are correct, and preprocessing is consistent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combined raw inspection totals ~347,896 records from PubChem, ChEMBL, TDC, ToxCast, PK-DB. From these, we construct 13,030 curated task training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reflects the latest active configuration used in current benchmarks: 258 total input dimensions with fingerprint + physico descriptors integrated in the processed Phase 2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a continuous endpoint as classification forces a threshold and mismatched loss. We corrected Caco-2 to regression, aligning training with the label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artifacts document the full Phase 2 pipeline. Reviewers can trace the feature engineering choices and verify preprocessing and task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establishes the multi-task Neural ODE model and produces baseline metrics. The objective now is iterative improvement to hit target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targets define Phase 3 completion criteria. All four must be met to exit Phase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idea is shared representation learning with specialized heads. LayerNorm avoids BatchNorm running-statistics issues when mixing tasks in interleaved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Neural ODE supports modeling latent evolution. Even beyond time-series tasks, it can act as a flexible shared transformation consistent with PK/PD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setup is designed to produce stable, repeatable training runs so we can attribute performance changes to features/model choices rather than optimization instability.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Configuration reflects controlled training setup and explicit hyperparameter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latest cycle focused on controlled objective/loss variants and threshold behavior, with comparable evaluation outputs across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Clearance remains near target while binding, hERG, and Caco-2 are still below required thresholds. Current direction prioritizes split-leakage mitigation and re-benchmarking.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evidence supports targeted per-task optimization (especially hERG/Caco-2) using the stable shared encoder as a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Leakage control is the highest-impact next step to ensure reported gains are trustworthy and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avoid changing many things at once. First optimize targeted task heads; then run broader hyperparameter and loss-balancing iterations.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plan is staged: representation → tuning → architecture refinement if necessary. Each mitigation is a controlled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input prevents optimizing the wrong objective. We want agreement on what constitutes success before moving to deployment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Dates can be adjusted; this is sequencing rather than strict scheduling.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is in a good iteration-ready state. The next milestone is performance improvement with the 1024-bit Morgan fingerprint upgrade and minimal code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reviewers wanting traceability: key cells include config, feature assembly, model, loss, training,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controlled experiments and strict comparability against the latest benchmark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align terminology. Main practical takeaway: increasing fingerprint bits reduces collisions and usually improves predictive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</a:rPr>
              <a:t>Phase 2 &amp; Phase 3 Update:
Feature Engineering → Multi-Task Neural 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4612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200" b="0" i="0">
                <a:solidFill>
                  <a:srgbClr val="AACCEE"/>
                </a:solidFill>
              </a:rPr>
              <a:t>Neural PK–PD Modeling with Physics-Informed Neural ODE  •  PK–PD + ADMET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600" b="0" i="0">
                <a:solidFill>
                  <a:srgbClr val="BBBBBB"/>
                </a:solidFill>
              </a:rPr>
              <a:t>Subrat  •  Sushree2179/Neural_PK-PD_Modeling_with_ODE    |    Snapshot: March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Phase 2→3 handoff complete via processed artifact (single canonical feature source)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Phase 3 active: multi-variant benchmarking executed on shared encoder + Neural ODE pipeline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Current feature space: 258 dims (2 physico + 256 fingerprint)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Latest benchmark: clearance near target; binding / hERG / Caco-2 still below targets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Next action: task-specific fine-tuning for hERG/Caco-2 with frozen shared encoder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What This Review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272887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27288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</a:rPr>
              <a:t>COVERED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272887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0" i="0">
                <a:solidFill>
                  <a:srgbClr val="333333"/>
                </a:solidFill>
              </a:rPr>
              <a:t>•  Phase 2: feature engineering + dataset readiness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333333"/>
                </a:solidFill>
              </a:rPr>
              <a:t>•  Phase 3: model architecture + training design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333333"/>
                </a:solidFill>
              </a:rPr>
              <a:t>•  Baseline results + improvement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0167" y="1417320"/>
            <a:ext cx="5272887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463040"/>
            <a:ext cx="527288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</a:rPr>
              <a:t>NOT 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965960"/>
            <a:ext cx="5272887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0" i="0">
                <a:solidFill>
                  <a:srgbClr val="333333"/>
                </a:solidFill>
              </a:rPr>
              <a:t>•  Deep Phase 1 EDA details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333333"/>
                </a:solidFill>
              </a:rPr>
              <a:t>•  Phase 4 deployment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Motivation: 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One framework to predict multiple endpoints (ADMET + PK/PD-relevant outcomes)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Shared representation reduces duplicated per-endpoint modeling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Iterative pipeline: data → features → model → evaluation → improvement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Extensible: once the pipeline is stable, improvements transfer across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Project Context —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Phase 1: Data exploration &amp; validation  ✅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Phase 2: Feature engineering &amp; task-ready dataset  ✅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Phase 3: Neural ODE model development  🔬  (in progress)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Phase 4: Deployment  (pending)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60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</a:rPr>
              <a:t>Phase 2</a:t>
            </a:r>
          </a:p>
          <a:p/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2200" b="0" i="0">
                <a:solidFill>
                  <a:srgbClr val="CCDDEE"/>
                </a:solidFill>
              </a:rPr>
              <a:t>Feature Engineering &amp; Multi-Task Dataset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Phase 2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Standardize inputs across sources into a single ML-ready format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Ensure correct task definitions (regression vs classification)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Normalize features and regression targets for stable multi-task training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Prepare clean inputs for Phase 3 Neural ODE model consumption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Phase 2 Output: Final Training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Total training samples: 13,030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4 prediction tasks: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666666"/>
                </a:solidFill>
              </a:rPr>
              <a:t>    ‣  Binding affinity  (regression)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666666"/>
                </a:solidFill>
              </a:rPr>
              <a:t>    ‣  hERG inhibition  (classification)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666666"/>
                </a:solidFill>
              </a:rPr>
              <a:t>    ‣  Caco-2 permeability  (regression)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666666"/>
                </a:solidFill>
              </a:rPr>
              <a:t>    ‣  Hepatocyte clearance  (regression)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Phase 2 Features — What the Model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Current feature vector: 258 dimensions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256-bit molecular fingerprint (ECFP-style) + 2 physicochemical inputs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Processed feature matrix is reused directly in Phase 3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Feature normalization: mean = 0, std = 1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Regression target normalization: StandardScaler (per task)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Phase 2 Key Decision: Caco-2 as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Caco-2 is a continuous permeability measurement (not binary)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Correct task type ensures correct model head + loss function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Prevents mismatch between target type and training objective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Aligns training with actual label semantics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Phase 2 Deliverables (Artifacts)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Notebook: Coding/phase1_2_data_exploration.ipynb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666666"/>
                </a:solidFill>
              </a:rPr>
              <a:t>    ‣  End-to-end feature engineering + dataset preparation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666666"/>
                </a:solidFill>
              </a:rPr>
              <a:t>    ‣  RDKit descriptor extraction + Morgan fingerprints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666666"/>
                </a:solidFill>
              </a:rPr>
              <a:t>    ‣  Multi-task feature matrix creation + normalization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Processed artifact: Coding/data/processed/phase2_multitask_features_with_fingerprints.csv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666666"/>
                </a:solidFill>
              </a:rPr>
              <a:t>    ‣  Canonical Phase 3 input source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666666"/>
                </a:solidFill>
              </a:rPr>
              <a:t>    ‣  Enables reproducible benchmark comparisons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60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</a:rPr>
              <a:t>Phase 3</a:t>
            </a:r>
          </a:p>
          <a:p/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2200" b="0" i="0">
                <a:solidFill>
                  <a:srgbClr val="CCDDEE"/>
                </a:solidFill>
              </a:rPr>
              <a:t>Neural ODE Multi-Task Model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Phase 3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Multi-task neural architecture: shared encoder + task-specific heads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Neural ODE integration using torchdiffeq for PK dynamics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Physics-informed loss incorporating mechanistic constraints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Stable multi-task training + baseline results for 4 tasks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Phase 3 Target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9441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Binding Affinity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&gt; 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hERG Inhibition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AUROC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&gt; 0.80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Caco-2 Permeability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AUROC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&gt; 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Clearance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&lt; 1.00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Phase 3 Architecture (High Level)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SharedEncoder: LayerNorm → Linear → ReLU (maps input → 64-dim latent)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PKODEFunc: Neural ODE dynamics in latent space via torchdiffeq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Task heads: RegressionHead (binding, Caco-2, clearance) + ClassificationHead (hERG)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Unified wrapper: MultiTaskPKPDModel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Total trainable parameters: 44,710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Why Neural ODE?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Continuous-depth transformation in latent space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Conceptual alignment with PK/PD dynamics (state evolves over time)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Structured nonlinear mapping shared across heterogeneous endpoints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Can generate PK-like concentration-time curves from learned parameters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Training Setup (Stability-Focused)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Interleaved sampling (min-step style) to prevent large-task dominance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Early stopping (patience = 40 epochs)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Gradient clipping = 1.0 for stability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LR scheduling: ReduceLROnPlateau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Loss tracks benchmarked: BCE-with-logits / focal variants + threshold tuning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Model Configuration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94415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input_dim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258 (2 physico + 256 fingerprint)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hidden_dim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latent_dim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dropout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batch_size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epochs (max)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learning_rate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1e-3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weight_decay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1e-4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patience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grad_clip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Training Run Summary (Latest Benchmark Cycle)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Training executed successfully end-to-end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Multiple controlled variants compared (deep-head, focal/logits, fine-tuning variants)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Concrete quality gate + constrained threshold calibration executed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Production threshold policy selected (hERG=0.49, Caco-2=0.50)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Locked-threshold reporting cell now used for final benchmark table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Pipeline is reproducible and provides diagnostics for iterative improvement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Latest Results vs Targets (March 8,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94415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E86C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Binding Affinity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0.0019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&gt; 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✗  Not 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hERG Inhibition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AUROC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0.4836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&gt; 0.80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✗  Not met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Caco-2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AUROC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0.4719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&gt; 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✗  Not met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Clearance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0.9766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&lt; 1.00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✓  Met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Interpretation: What the Baseline Tells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Pipeline is functional — training is stable (engineering risk reduced)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3/4 tasks underperform → objective balancing and task-specific adaptation remain limiting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Latest feature integration, quality gate, and threshold governance are in place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Clearance success indicates some signal is captured under current representation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Next gains likely come from split-leakage mitigation before major architecture changes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Primary Next Action: Split-Leakage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Correct data split strategy for leakage-prone tasks (starting with binding)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Re-run quality gate to confirm zero exact-overlap leakage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Keep locked production thresholds for consistent classification reporting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Re-run benchmark and compare deltas vs March 8 snapshot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Promote only reproducible improvements to default configuration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Secondary Next Actions (After Focused Fine-Tuning)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Hyperparameter tuning: hidden_dim / latent_dim / learning rate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Adjust per-task loss weights and sampling ratios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For hERG/Caco-2: PR-AUC + calibration and threshold analysis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Data splits &amp; leakage checks if needed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Risks &amp; Mitigations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5272887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27288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</a:rPr>
              <a:t>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272887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0" i="0">
                <a:solidFill>
                  <a:srgbClr val="333333"/>
                </a:solidFill>
              </a:rPr>
              <a:t>•  Metrics remain low after fingerprint upgrade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333333"/>
                </a:solidFill>
              </a:rPr>
              <a:t>•  hERG imbalance / label noise limits AUROC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333333"/>
                </a:solidFill>
              </a:rPr>
              <a:t>•  Task interference in shared trunk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0167" y="1417320"/>
            <a:ext cx="5272887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463040"/>
            <a:ext cx="527288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</a:rPr>
              <a:t>MITIGATIONS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965960"/>
            <a:ext cx="5272887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0" i="0">
                <a:solidFill>
                  <a:srgbClr val="333333"/>
                </a:solidFill>
              </a:rPr>
              <a:t>•  Add richer descriptors or pretrained embeddings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333333"/>
                </a:solidFill>
              </a:rPr>
              <a:t>•  Verify splits, add PR-AUC, recalibrate weights</a:t>
            </a:r>
          </a:p>
          <a:p>
            <a:pPr>
              <a:spcBef>
                <a:spcPts val="800"/>
              </a:spcBef>
            </a:pPr>
            <a:r>
              <a:rPr sz="1800" b="0" i="0">
                <a:solidFill>
                  <a:srgbClr val="333333"/>
                </a:solidFill>
              </a:rPr>
              <a:t>•  Task adapters / partial sharing approach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What We Need from Reviewers /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Confirm metric priorities per task (R² vs RMSE; AUROC vs PR-AUC)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Agree on Phase 3 exit criteria — what thresholds enable Phase 4?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Feedback: keep Neural ODE vs compare to simpler baselines first?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Near-Term Plan (Sequencing)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Week 1: hERG/Caco-2 focused fine-tuning with frozen shared encoder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Week 2: threshold calibration + loss-weight/sampling adjustments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Week 3: consolidate results + decide Phase 3 exit / Phase 4 scope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</a:rPr>
              <a:t>Summary &amp; Next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4612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200" b="0" i="0">
                <a:solidFill>
                  <a:srgbClr val="AACCEE"/>
                </a:solidFill>
              </a:rPr>
              <a:t>Phase 2→3 integration complete  •  Phase 3 benchmarking established
Clearance near target; binding/hERG/Caco-2 still below thresholds
Next: targeted fine-tuning for hERG/Caco-2 with frozen shared 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600" b="0" i="0">
                <a:solidFill>
                  <a:srgbClr val="BBBBBB"/>
                </a:solidFill>
              </a:rPr>
              <a:t>Subrat    |    March 8,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60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</a:rPr>
              <a:t>Backup Slides</a:t>
            </a:r>
          </a:p>
          <a:p/>
          <a:p>
            <a:pPr algn="ctr">
              <a:spcBef>
                <a:spcPts val="600"/>
              </a:spcBef>
              <a:spcAft>
                <a:spcPts val="400"/>
              </a:spcAft>
            </a:pPr>
            <a:r>
              <a:rPr sz="2200" b="0" i="0">
                <a:solidFill>
                  <a:srgbClr val="CCDDEE"/>
                </a:solidFill>
              </a:rPr>
              <a:t>Additional detail for reviewers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Backup A — Phase 3 Notebook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Data loading (4 tasks, 13,030 samples)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Feature assembly: physico descriptors + Morgan fingerprint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Dataset &amp; loaders: MultiTaskDataset with interleaved batching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Model components: SharedEncoder → PKODEFunc → Task Heads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Training: MultiTaskLoss (MSE + weighted BCE) + early stopping + LR scheduling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Visualizations: training history + PK curve plotting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Backup B — Exact Code Change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Freeze shared encoder/ODE and unfreeze selected task heads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Apply task-specific loss/threshold tuning for hERG and Caco-2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Rerun in order: task-head config → dataloaders → training → validation sweep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Record: AUROC/F1/threshold table + comparative benchmark snapshot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</a:rPr>
              <a:t>Appendix: 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Neural ODE: dh/dt = f_θ(h,t); ODE solver integrates dynamics (continuous-depth)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AUROC: ranking quality across thresholds (0.5 = random → 1.0 = perfect)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R²: variance explained (0 = mean predictor; &lt; 0 = worse than mean)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RMSE: error magnitude in target units (lower is better; penalizes large errors)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0" i="0">
                <a:solidFill>
                  <a:srgbClr val="333333"/>
                </a:solidFill>
              </a:rPr>
              <a:t>•  Morgan / ECFP4: circular fingerprint (radius=2); more bits → fewer collisions → better signal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